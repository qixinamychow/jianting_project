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BM Project – Human Data Update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CCDDEE"/>
                </a:solidFill>
              </a:rPr>
              <a:t>Parameter sweep clustering | BC_ER+ separation | Highlight + ESR1/SP1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888888"/>
                </a:solidFill>
              </a:rPr>
              <a:t>Jianting Sheng | Houston Methodist Neal Cancer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Sanity Check — Macrophage Cells per Cancer Type</a:t>
            </a:r>
          </a:p>
        </p:txBody>
      </p:sp>
      <p:pic>
        <p:nvPicPr>
          <p:cNvPr id="4" name="Picture 3" descr="00_sanity_cells_per_can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Sanity Check — Macrophage Cells per Sample</a:t>
            </a:r>
          </a:p>
        </p:txBody>
      </p:sp>
      <p:pic>
        <p:nvPicPr>
          <p:cNvPr id="4" name="Picture 3" descr="00_sanity_cells_per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Macrophage Sub-clustering UMAP — Best Params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n.neighbors=10  min.dist=0.05  resolution=0.3  n_clusters=11</a:t>
            </a:r>
          </a:p>
        </p:txBody>
      </p:sp>
      <p:pic>
        <p:nvPicPr>
          <p:cNvPr id="5" name="Picture 4" descr="01_uma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BC / BC_ER Cells Highlighted on UMAP</a:t>
            </a:r>
          </a:p>
        </p:txBody>
      </p:sp>
      <p:pic>
        <p:nvPicPr>
          <p:cNvPr id="4" name="Picture 3" descr="04_bc_highlight_u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Cancer Type Composition per Macrophage Cluster</a:t>
            </a:r>
          </a:p>
        </p:txBody>
      </p:sp>
      <p:pic>
        <p:nvPicPr>
          <p:cNvPr id="4" name="Picture 3" descr="02_cancer_type_bar_bc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Feature Plots — Highlight Genes</a:t>
            </a:r>
          </a:p>
        </p:txBody>
      </p:sp>
      <p:pic>
        <p:nvPicPr>
          <p:cNvPr id="4" name="Picture 3" descr="03a_feature_plots_high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Feature Plots — ESR1 / SP1</a:t>
            </a:r>
          </a:p>
        </p:txBody>
      </p:sp>
      <p:pic>
        <p:nvPicPr>
          <p:cNvPr id="4" name="Picture 3" descr="03b_feature_plots_esr1_s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Combined Dot Plot — Highlight + ESR1/SP1</a:t>
            </a:r>
          </a:p>
        </p:txBody>
      </p:sp>
      <p:pic>
        <p:nvPicPr>
          <p:cNvPr id="4" name="Picture 3" descr="03c_dotplot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DEG Dot Plot — Top 3 Marker Genes per Cluster</a:t>
            </a:r>
          </a:p>
        </p:txBody>
      </p:sp>
      <p:pic>
        <p:nvPicPr>
          <p:cNvPr id="4" name="Picture 3" descr="04b_deg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Highlight + ESR1/SP1 Expression — Top 6 Clusters</a:t>
            </a:r>
          </a:p>
        </p:txBody>
      </p:sp>
      <p:pic>
        <p:nvPicPr>
          <p:cNvPr id="4" name="Picture 3" descr="04c_dotplot_comb_top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GSEA — All Databases | Top 5 Up/Down per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HALLMARK (blue) · C6 (lt.blue) · GO:BP (green) · Reactome (orange) · C7-IMMUNESIGDB (purple)</a:t>
            </a:r>
          </a:p>
        </p:txBody>
      </p:sp>
      <p:pic>
        <p:nvPicPr>
          <p:cNvPr id="5" name="Picture 4" descr="05e_gsea_alldb_st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GSEA — Top Pathways per Cluster (Bubble Plot)</a:t>
            </a:r>
          </a:p>
        </p:txBody>
      </p:sp>
      <p:pic>
        <p:nvPicPr>
          <p:cNvPr id="4" name="Picture 3" descr="05b_gsea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GSEA (Broader) — Cluster 1 (BC_ER+) by Hypothesis</a:t>
            </a:r>
          </a:p>
        </p:txBody>
      </p:sp>
      <p:pic>
        <p:nvPicPr>
          <p:cNvPr id="4" name="Picture 3" descr="05f_cl1_combined_nofac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GSEA — Cluster 1 Hypothesis Groups (Colored by Direction)</a:t>
            </a:r>
          </a:p>
        </p:txBody>
      </p:sp>
      <p:pic>
        <p:nvPicPr>
          <p:cNvPr id="4" name="Picture 3" descr="05c_cluster1_hypo_g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Bone Site / Tissue Origin per Macrophage Sub-cluster</a:t>
            </a:r>
          </a:p>
        </p:txBody>
      </p:sp>
      <p:pic>
        <p:nvPicPr>
          <p:cNvPr id="4" name="Picture 3" descr="07_tissue_origin_per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Treatment Response per Macrophage Sub-cluster</a:t>
            </a:r>
          </a:p>
        </p:txBody>
      </p:sp>
      <p:pic>
        <p:nvPicPr>
          <p:cNvPr id="4" name="Picture 3" descr="08_treatment_per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Gender Distribution per Macrophage Sub-cluster</a:t>
            </a:r>
          </a:p>
        </p:txBody>
      </p:sp>
      <p:pic>
        <p:nvPicPr>
          <p:cNvPr id="4" name="Picture 3" descr="06_gender_per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Summary — Update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188720"/>
            <a:ext cx="27432" cy="502920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1">
                <a:solidFill>
                  <a:srgbClr val="1F497D"/>
                </a:solidFill>
              </a:rPr>
              <a:t>Clustering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Cluster 1: 1791/1889 cells = 94.8% BC_ER+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res=0.3 dominant; UMAP params irrelevant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BC08 = 54% of all BC_ER+ cells (single-patient dominance)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F497D"/>
                </a:solidFill>
              </a:rPr>
              <a:t>Gene expression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Cluster 10 highest for TIMP2/MMP14/PDGFA/FN1/VIM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Cluster 1 (BC_ER+) ranks 3rd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ESR1/SP1 co-expression not exclusive to Cluster 1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F497D"/>
                </a:solidFill>
              </a:rPr>
              <a:t>Hallmark / Oncogenic GSEA (H + C6)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Cluster 1: no significant terms (all padj&gt;0.15)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Trending down: IL-6/JAK/STAT3, IFN-g, KRAS-breast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Cluster 0: IFN-a/g strongly UP (padj&lt;0.003)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Cluster 4 (LC): KRAS + mTORC1 + TNFa/NFkB UP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Cluster 8: STK33 DN, Allograft rejection UP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Cluster 9: EMT UP (only cluster)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1">
                <a:solidFill>
                  <a:srgbClr val="1F497D"/>
                </a:solidFill>
              </a:rPr>
              <a:t>Broader GSEA (GO:BP + Reactome + C7-IMMUNESIGDB)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Cluster 1 (BC_ER+) — 21 deduplicated terms: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Mac. polarization: PPARG-KO, WBP7-KO, MDSC DOWN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F497D"/>
                </a:solidFill>
              </a:rPr>
              <a:t>    (all padj&lt;0.05 — strongest signals in cluster 1)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Cytokine: IFN-g signaling, cytokine network DOWN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TGF-b: TH17/TGF-b/IL-6, AKT-TGF-b DOWN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Immunosuppression: T cell activation DOWN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Wnt/osteogenic: Wnt signaling (Reactome) DOWN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ECM: ECM organization weakly UP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F497D"/>
                </a:solidFill>
              </a:rPr>
              <a:t>Interpretation re: BM manuscript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BC_ER+ macrophages appear transcriptionally suppressed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Consistent with immunosuppressive ER+ TME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Down-regulated Wnt may reflect niche dependency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  – PPARG/WBP7/MDSC signatures: non-classical activation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F497D"/>
                </a:solidFill>
              </a:rPr>
              <a:t>Next steps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DEG: Cluster 1 vs BC_ER- clusters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Validate SP1/ESR1 co-expression in Cluster 1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62626"/>
                </a:solidFill>
              </a:rPr>
              <a:t>• Link to S2C2 crosstalk; validate in mouse W2/W3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solidFill>
            <a:srgbClr val="FFF0F0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263640"/>
            <a:ext cx="11100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62728"/>
                </a:solidFill>
              </a:rPr>
              <a:t>★ Cluster 1: 1791/1889 cells = 94.8% BC_ER+  |  BC_ER+ macrophages: immunosuppressed, non-classical, Wnt/cytokine DOWN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