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3" r:id="rId17"/>
    <p:sldId id="274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1872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BM Project – Human Data Update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Sanity Check — Macrophage Cells per Cancer Type</a:t>
            </a:r>
          </a:p>
        </p:txBody>
      </p:sp>
      <p:pic>
        <p:nvPicPr>
          <p:cNvPr id="4" name="Picture 3" descr="00_sanity_cells_per_can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Sanity Check — Macrophage Cells per Sample</a:t>
            </a:r>
          </a:p>
        </p:txBody>
      </p:sp>
      <p:pic>
        <p:nvPicPr>
          <p:cNvPr id="4" name="Picture 3" descr="00_sanity_cells_per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Macrophage Sub-clustering UMAP — Best Params</a:t>
            </a:r>
          </a:p>
        </p:txBody>
      </p:sp>
      <p:pic>
        <p:nvPicPr>
          <p:cNvPr id="4" name="Picture 3" descr="01_u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BC / BC_ER Cells Highlighted on UMAP</a:t>
            </a:r>
          </a:p>
        </p:txBody>
      </p:sp>
      <p:pic>
        <p:nvPicPr>
          <p:cNvPr id="4" name="Picture 3" descr="04_bc_highlight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Cancer Type Composition per Macrophage Cluster</a:t>
            </a:r>
          </a:p>
        </p:txBody>
      </p:sp>
      <p:pic>
        <p:nvPicPr>
          <p:cNvPr id="4" name="Picture 3" descr="02_cancer_type_bar_bc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Feature Plots — Highlight Genes</a:t>
            </a:r>
          </a:p>
        </p:txBody>
      </p:sp>
      <p:pic>
        <p:nvPicPr>
          <p:cNvPr id="4" name="Picture 3" descr="03a_feature_plots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Feature Plots — ESR1 / SP1</a:t>
            </a:r>
          </a:p>
        </p:txBody>
      </p:sp>
      <p:pic>
        <p:nvPicPr>
          <p:cNvPr id="4" name="Picture 3" descr="03b_feature_plots_esr1_s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Combined Dot Plot — Highlight + ESR1/SP1</a:t>
            </a:r>
          </a:p>
        </p:txBody>
      </p:sp>
      <p:pic>
        <p:nvPicPr>
          <p:cNvPr id="4" name="Picture 3" descr="03c_dotplo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DEG Dot Plot — Top 3 Marker Genes per Cluster</a:t>
            </a:r>
          </a:p>
        </p:txBody>
      </p:sp>
      <p:pic>
        <p:nvPicPr>
          <p:cNvPr id="4" name="Picture 3" descr="04b_deg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Highlight + ESR1/SP1 Expression — Top 6 Clusters</a:t>
            </a:r>
          </a:p>
        </p:txBody>
      </p:sp>
      <p:pic>
        <p:nvPicPr>
          <p:cNvPr id="4" name="Picture 3" descr="04c_dotplot_comb_top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All Databases | Top 5 Up/Down per Cluster</a:t>
            </a:r>
          </a:p>
        </p:txBody>
      </p:sp>
      <p:pic>
        <p:nvPicPr>
          <p:cNvPr id="4" name="Picture 3" descr="05e_gsea_alldb_st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80475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Top Pathways per Cluster (Bubble Plot)</a:t>
            </a:r>
          </a:p>
        </p:txBody>
      </p:sp>
      <p:pic>
        <p:nvPicPr>
          <p:cNvPr id="4" name="Picture 3" descr="05b_gsea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(Broader) — Cluster 1 (BC_ER+)</a:t>
            </a:r>
          </a:p>
        </p:txBody>
      </p:sp>
      <p:pic>
        <p:nvPicPr>
          <p:cNvPr id="4" name="Picture 3" descr="05f_cl1_combined_nofac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Bone Site / Tissue Origin per Macrophage Sub-cluster</a:t>
            </a:r>
          </a:p>
        </p:txBody>
      </p:sp>
      <p:pic>
        <p:nvPicPr>
          <p:cNvPr id="4" name="Picture 3" descr="07_tissue_origin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Treatment Response per Macrophage Sub-cluster</a:t>
            </a:r>
          </a:p>
        </p:txBody>
      </p:sp>
      <p:pic>
        <p:nvPicPr>
          <p:cNvPr id="4" name="Picture 3" descr="08_treatment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— Update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27432" cy="502920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51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497D"/>
                </a:solidFill>
              </a:rPr>
              <a:t>Clustering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1: 1791/1889 cells = 94.8% BC_ER+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497D"/>
                </a:solidFill>
              </a:rPr>
              <a:t>Gene expression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10 highest for TIMP2/MMP14/PDGFA/FN1/VIM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Cluster 1 (BC_ER+) ranks 3rd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ESR1/SP1 co-expression not exclusive to Cluster 1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497D"/>
                </a:solidFill>
              </a:rPr>
              <a:t>Hallmark / Oncogenic GSEA (H + C6)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1: no significant terms (all </a:t>
            </a:r>
            <a:r>
              <a:rPr sz="1000" dirty="0" err="1">
                <a:solidFill>
                  <a:srgbClr val="262626"/>
                </a:solidFill>
              </a:rPr>
              <a:t>padj</a:t>
            </a:r>
            <a:r>
              <a:rPr sz="1000" dirty="0">
                <a:solidFill>
                  <a:srgbClr val="262626"/>
                </a:solidFill>
              </a:rPr>
              <a:t>&gt;0.15)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Trending down: IL-6/JAK/STAT3, IFN-g, KRAS-breast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0: IFN-a/g strongly UP (</a:t>
            </a:r>
            <a:r>
              <a:rPr sz="1000" dirty="0" err="1">
                <a:solidFill>
                  <a:srgbClr val="262626"/>
                </a:solidFill>
              </a:rPr>
              <a:t>padj</a:t>
            </a:r>
            <a:r>
              <a:rPr sz="1000" dirty="0">
                <a:solidFill>
                  <a:srgbClr val="262626"/>
                </a:solidFill>
              </a:rPr>
              <a:t>&lt;0.003)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4 (LC): KRAS + mTORC1 + </a:t>
            </a:r>
            <a:r>
              <a:rPr sz="1000" dirty="0" err="1">
                <a:solidFill>
                  <a:srgbClr val="262626"/>
                </a:solidFill>
              </a:rPr>
              <a:t>TNFa</a:t>
            </a:r>
            <a:r>
              <a:rPr sz="1000" dirty="0">
                <a:solidFill>
                  <a:srgbClr val="262626"/>
                </a:solidFill>
              </a:rPr>
              <a:t>/</a:t>
            </a:r>
            <a:r>
              <a:rPr sz="1000" dirty="0" err="1">
                <a:solidFill>
                  <a:srgbClr val="262626"/>
                </a:solidFill>
              </a:rPr>
              <a:t>NFkB</a:t>
            </a:r>
            <a:r>
              <a:rPr sz="1000" dirty="0">
                <a:solidFill>
                  <a:srgbClr val="262626"/>
                </a:solidFill>
              </a:rPr>
              <a:t> UP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8: STK33 DN, Allograft rejection UP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Cluster 9: EMT UP (only cluster)</a:t>
            </a:r>
            <a:endParaRPr lang="en-US" sz="1000" dirty="0">
              <a:solidFill>
                <a:srgbClr val="262626"/>
              </a:solidFill>
            </a:endParaRPr>
          </a:p>
          <a:p>
            <a:pPr>
              <a:spcBef>
                <a:spcPts val="300"/>
              </a:spcBef>
            </a:pPr>
            <a:endParaRPr lang="en-US" sz="1000" dirty="0">
              <a:solidFill>
                <a:srgbClr val="262626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1F497D"/>
                </a:solidFill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497D"/>
                </a:solidFill>
              </a:rPr>
              <a:t>Cell-cell communication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497D"/>
                </a:solidFill>
              </a:rPr>
              <a:t>Pseudo time analysis</a:t>
            </a:r>
          </a:p>
          <a:p>
            <a:pPr>
              <a:spcBef>
                <a:spcPts val="300"/>
              </a:spcBef>
            </a:pPr>
            <a:endParaRPr sz="1000" dirty="0">
              <a:solidFill>
                <a:srgbClr val="2626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1F497D"/>
                </a:solidFill>
              </a:rPr>
              <a:t>Cluster 1 </a:t>
            </a:r>
            <a:r>
              <a:rPr sz="1000" b="1" dirty="0">
                <a:solidFill>
                  <a:srgbClr val="1F497D"/>
                </a:solidFill>
              </a:rPr>
              <a:t>(GO:BP + </a:t>
            </a:r>
            <a:r>
              <a:rPr sz="1000" b="1" dirty="0" err="1">
                <a:solidFill>
                  <a:srgbClr val="1F497D"/>
                </a:solidFill>
              </a:rPr>
              <a:t>Reactome</a:t>
            </a:r>
            <a:r>
              <a:rPr sz="1000" b="1" dirty="0">
                <a:solidFill>
                  <a:srgbClr val="1F497D"/>
                </a:solidFill>
              </a:rPr>
              <a:t> + C7-IMMUNESIGDB)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262626"/>
                </a:solidFill>
              </a:rPr>
              <a:t>– Mac. polarization: PPARG-KO, WBP7-KO, MDSC DOWN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497D"/>
                </a:solidFill>
              </a:rPr>
              <a:t>    (all </a:t>
            </a:r>
            <a:r>
              <a:rPr sz="1000" b="1" dirty="0" err="1">
                <a:solidFill>
                  <a:srgbClr val="1F497D"/>
                </a:solidFill>
              </a:rPr>
              <a:t>padj</a:t>
            </a:r>
            <a:r>
              <a:rPr sz="1000" b="1" dirty="0">
                <a:solidFill>
                  <a:srgbClr val="1F497D"/>
                </a:solidFill>
              </a:rPr>
              <a:t>&lt;0.05 — strongest signals in cluster 1)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Cytokine: IFN-g signaling, cytokine network DOWN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TGF-b: TH17/TGF-b/IL-6, AKT-TGF-b DOWN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Immunosuppression: T cell activation DOWN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</a:t>
            </a:r>
            <a:r>
              <a:rPr sz="1000" dirty="0" err="1">
                <a:solidFill>
                  <a:srgbClr val="262626"/>
                </a:solidFill>
              </a:rPr>
              <a:t>Wnt</a:t>
            </a:r>
            <a:r>
              <a:rPr sz="1000" dirty="0">
                <a:solidFill>
                  <a:srgbClr val="262626"/>
                </a:solidFill>
              </a:rPr>
              <a:t>/osteogenic: </a:t>
            </a:r>
            <a:r>
              <a:rPr sz="1000" dirty="0" err="1">
                <a:solidFill>
                  <a:srgbClr val="262626"/>
                </a:solidFill>
              </a:rPr>
              <a:t>Wnt</a:t>
            </a:r>
            <a:r>
              <a:rPr sz="1000" dirty="0">
                <a:solidFill>
                  <a:srgbClr val="262626"/>
                </a:solidFill>
              </a:rPr>
              <a:t> signaling (</a:t>
            </a:r>
            <a:r>
              <a:rPr sz="1000" dirty="0" err="1">
                <a:solidFill>
                  <a:srgbClr val="262626"/>
                </a:solidFill>
              </a:rPr>
              <a:t>Reactome</a:t>
            </a:r>
            <a:r>
              <a:rPr sz="1000" dirty="0">
                <a:solidFill>
                  <a:srgbClr val="262626"/>
                </a:solidFill>
              </a:rPr>
              <a:t>) DOWN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ECM: ECM organization weakly UP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497D"/>
                </a:solidFill>
              </a:rPr>
              <a:t>Interpretation re: BM manuscript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• BC_ER+ macrophages appear transcriptionally suppressed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Consistent with immunosuppressive ER+ TME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Down-regulated </a:t>
            </a:r>
            <a:r>
              <a:rPr sz="1000" dirty="0" err="1">
                <a:solidFill>
                  <a:srgbClr val="262626"/>
                </a:solidFill>
              </a:rPr>
              <a:t>Wnt</a:t>
            </a:r>
            <a:r>
              <a:rPr sz="1000" dirty="0">
                <a:solidFill>
                  <a:srgbClr val="262626"/>
                </a:solidFill>
              </a:rPr>
              <a:t> may reflect niche dependency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262626"/>
                </a:solidFill>
              </a:rPr>
              <a:t>  – PPARG/WBP7/MDSC signatures: non-classical activation</a:t>
            </a:r>
            <a:endParaRPr lang="en-US" sz="1000" dirty="0">
              <a:solidFill>
                <a:srgbClr val="262626"/>
              </a:solidFill>
            </a:endParaRPr>
          </a:p>
          <a:p>
            <a:pPr>
              <a:spcBef>
                <a:spcPts val="300"/>
              </a:spcBef>
            </a:pPr>
            <a:endParaRPr sz="1000" dirty="0">
              <a:solidFill>
                <a:srgbClr val="262626"/>
              </a:solidFill>
            </a:endParaRP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497D"/>
                </a:solidFill>
              </a:rPr>
              <a:t>Next steps</a:t>
            </a:r>
            <a:endParaRPr lang="en-US" sz="1000" b="1" dirty="0">
              <a:solidFill>
                <a:srgbClr val="1F497D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497D"/>
                </a:solidFill>
              </a:rPr>
              <a:t>Cell-cell communication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497D"/>
                </a:solidFill>
              </a:rPr>
              <a:t>Pseudo time analysis</a:t>
            </a:r>
            <a:endParaRPr sz="1000" dirty="0">
              <a:solidFill>
                <a:srgbClr val="1F497D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solidFill>
            <a:srgbClr val="FFF0F0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263640"/>
            <a:ext cx="11100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62728"/>
                </a:solidFill>
              </a:rPr>
              <a:t>★ Cluster 1: 1791/1889 cells = 94.8% BC_ER+  |  BC_ER+ macrophages: immunosuppressed, non-classical, Wnt/cytokine 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437</Words>
  <Application>Microsoft Office PowerPoint</Application>
  <PresentationFormat>Custom</PresentationFormat>
  <Paragraphs>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Zhou, Qixin</cp:lastModifiedBy>
  <cp:revision>2</cp:revision>
  <dcterms:created xsi:type="dcterms:W3CDTF">2013-01-27T09:14:16Z</dcterms:created>
  <dcterms:modified xsi:type="dcterms:W3CDTF">2026-04-21T18:06:46Z</dcterms:modified>
  <cp:category/>
</cp:coreProperties>
</file>