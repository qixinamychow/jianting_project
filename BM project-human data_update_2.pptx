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BM Project – Human Data Update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CCDDEE"/>
                </a:solidFill>
              </a:rPr>
              <a:t>Macrophage Sub-clustering | GSE266330 | ER status from patient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888888"/>
                </a:solidFill>
              </a:rPr>
              <a:t>Jianting Sheng | Houston Methodist Neal Cancer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Macrophage Sub-clustering (UMAP)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Full recompute: SCTransform → PCA → UMAP → FindClusters | GSE266330, Liu et al. 2025</a:t>
            </a:r>
          </a:p>
        </p:txBody>
      </p:sp>
      <p:pic>
        <p:nvPicPr>
          <p:cNvPr id="5" name="Picture 4" descr="01_u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Cancer Type Composition per Macrophage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BC split by ER status from patient metadata (Table S1)</a:t>
            </a:r>
          </a:p>
        </p:txBody>
      </p:sp>
      <p:pic>
        <p:nvPicPr>
          <p:cNvPr id="5" name="Picture 4" descr="02_cancer_type_bar_bc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Highlight Gene Feature Plots — UMAP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Genes: Timp2 / Mmp14 / Pdgfa / Fn1 / Vim</a:t>
            </a:r>
          </a:p>
        </p:txBody>
      </p:sp>
      <p:pic>
        <p:nvPicPr>
          <p:cNvPr id="5" name="Picture 4" descr="03a_feature_plots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Highlight Gene Dot Plot — per Macrophage Sub-cluster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Genes: Timp2 / Mmp14 / Pdgfa / Fn1 / Vim | Dot size = % expressing; color = avg expression</a:t>
            </a:r>
          </a:p>
        </p:txBody>
      </p:sp>
      <p:pic>
        <p:nvPicPr>
          <p:cNvPr id="5" name="Picture 4" descr="03b_dotplot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DEG Heatmap — Top 5 Marker Genes per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FindAllMarkers (Wilcoxon) | only.pos=TRUE | min.pct=0.25 | padj&lt;0.05</a:t>
            </a:r>
          </a:p>
        </p:txBody>
      </p:sp>
      <p:pic>
        <p:nvPicPr>
          <p:cNvPr id="5" name="Picture 4" descr="04a_de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DEG Dot Plot — Top 3 Marker Genes per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Dot size = % cells expressing; color = average expression</a:t>
            </a:r>
          </a:p>
        </p:txBody>
      </p:sp>
      <p:pic>
        <p:nvPicPr>
          <p:cNvPr id="5" name="Picture 4" descr="04b_deg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Hallmark + Oncogenic (C6) NES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fgsea | MSigDB Hallmark (H) + Oncogenic Signatures (C6) | HVGs only | color = NES</a:t>
            </a:r>
          </a:p>
        </p:txBody>
      </p:sp>
      <p:pic>
        <p:nvPicPr>
          <p:cNvPr id="5" name="Picture 4" descr="05a_gsea_n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GSEA — Top Pathways per Cluster (Bubble Plot)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Top 3 pathways per cluster (padj&lt;0.25) | size = −log₁₀(padj) | color = NES</a:t>
            </a:r>
          </a:p>
        </p:txBody>
      </p:sp>
      <p:pic>
        <p:nvPicPr>
          <p:cNvPr id="5" name="Picture 4" descr="05b_gsea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Gender Distribution per Macrophage Sub-cluster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Female / Male / Unknown fraction per cluster</a:t>
            </a:r>
          </a:p>
        </p:txBody>
      </p:sp>
      <p:pic>
        <p:nvPicPr>
          <p:cNvPr id="5" name="Picture 4" descr="06_gender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Bone Site / Tissue Origin per Macrophage Sub-cluster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Site of bone metastasis resection</a:t>
            </a:r>
          </a:p>
        </p:txBody>
      </p:sp>
      <p:pic>
        <p:nvPicPr>
          <p:cNvPr id="5" name="Picture 4" descr="07_tissue_origin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Treatment Response per Macrophage Sub-cluster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CDDEE"/>
                </a:solidFill>
              </a:rPr>
              <a:t>Neoadjuvant or metastatic treatment response (Table S1)</a:t>
            </a:r>
          </a:p>
        </p:txBody>
      </p:sp>
      <p:pic>
        <p:nvPicPr>
          <p:cNvPr id="5" name="Picture 4" descr="08_treatment_per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188720"/>
            <a:ext cx="27432" cy="502920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F497D"/>
                </a:solidFill>
              </a:rPr>
              <a:t>Update 2 — key changes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ER+/ER- from patient metadata (Table S1)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Marker genes: highlight_genes.txt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Timp2 / Mmp14 / Pdgfa / Fn1 / Vim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DEG: FindAllMarkers per cluster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GSEA: Hallmark + Oncogenic (C6)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HVGs only for speed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Metadata: gender / bone site / treatment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Cluster 11 = highlight-gene-high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F497D"/>
                </a:solidFill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Annotate clusters with canonical markers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Cross-ref Yuliang’s signature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Link highlight-gene-high cluster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  – to S2C2 crosstalk model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Validate in mouse scRNA (Jianting W2/W3)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62626"/>
                </a:solidFill>
              </a:rPr>
              <a:t>• Drug target screen on top cluster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